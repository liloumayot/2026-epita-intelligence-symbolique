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: 1 min. Présentez le contexte KGQA — l'idée de répondre à des questions en langage naturel en interrogeant un graphe de connaissances RDF via SPARQL.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Définissez RDF et SPARQL rapidement. Soulignez que l'objectif pédagogique est la clarté du pipeline, pas la performance sur un large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Décrivez chaque étape : normalisation du texte, résolution d'entité, sélection du template SPARQL, exécution rdflib, extraction de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Montrez que le graphe est petit mais suffisant pour illustrer le pipeline. Insistez sur la structure S-P-O et les namespaces.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Montrez le flux : question → regex match → résolution entité → template SPARQL injecté. C'est le cœur du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Parcourez rapidement les 6 types de questions. Insistez sur la question multi-hop (dernière) qui enchaîne deux jointures SPARQL.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Précision de 100% sur le jeu de test (pipeline déterministe). Mentionnez que ce n'est pas un benchmark LC-QuAD — c'est un test de régression pour la démo.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Soyez honnête sur les limites : le pipeline est template-based et ne généralise pas aux reformulations. Présentez les pistes comme une vraie feuille de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Résumez les 5 points-clés. Terminez par : 'Ce projet pose les bases d'un KGQA — les extensions naturelles seraient un vrai module NER et une génération SPARQL assistée par LLM.'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0F8B8D">
              <a:alpha val="18000"/>
            </a:srgbClr>
          </a:solidFill>
          <a:ln w="12700">
            <a:solidFill>
              <a:srgbClr val="0F8B8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8B8D"/>
                </a:solidFill>
              </a:rPr>
              <a:t>EPITA — H3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4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Answering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EABB7"/>
                </a:solidFill>
              </a:rPr>
              <a:t>Du langage naturel aux requêtes SPARQL via un graphe RDF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9776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Question NL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29968" y="4197096"/>
            <a:ext cx="164592" cy="0"/>
          </a:xfrm>
          <a:prstGeom prst="line">
            <a:avLst/>
          </a:prstGeom>
          <a:noFill/>
          <a:ln w="15240">
            <a:solidFill>
              <a:srgbClr val="8EAB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12848" y="39776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Entity Linking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94176" y="4197096"/>
            <a:ext cx="164592" cy="0"/>
          </a:xfrm>
          <a:prstGeom prst="line">
            <a:avLst/>
          </a:prstGeom>
          <a:noFill/>
          <a:ln w="15240">
            <a:solidFill>
              <a:srgbClr val="8EAB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77056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77056" y="39776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SPARQL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4197096"/>
            <a:ext cx="164592" cy="0"/>
          </a:xfrm>
          <a:prstGeom prst="line">
            <a:avLst/>
          </a:prstGeom>
          <a:noFill/>
          <a:ln w="15240">
            <a:solidFill>
              <a:srgbClr val="8EAB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41264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41264" y="39776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RDF Graph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22592" y="4197096"/>
            <a:ext cx="164592" cy="0"/>
          </a:xfrm>
          <a:prstGeom prst="line">
            <a:avLst/>
          </a:prstGeom>
          <a:noFill/>
          <a:ln w="15240">
            <a:solidFill>
              <a:srgbClr val="8EAB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5472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05472" y="39776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Réponse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C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Knowledge Graph (KG)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6A6E"/>
                </a:solidFill>
              </a:rPr>
              <a:t>Un graphe RDF représente des faits sous forme de triplets (sujet, prédicat, objet). Exemple : Inception → directedBy → Christopher Nolan.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C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83480" y="1874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Question Answering (QA)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2395728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6A6E"/>
                </a:solidFill>
              </a:rPr>
              <a:t>Transformer une question en langage naturel en une requête SPARQL exécutable sur le graphe pour retourner la bonne réponse.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0F8B8D">
              <a:alpha val="12000"/>
            </a:srgbClr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3192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6A6E"/>
                </a:solidFill>
              </a:rPr>
              <a:t>Objectif : démontrer un pipeline KGQA complet, lisible et exécutable de bout en bout dans un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481328" cy="3200400"/>
          </a:xfrm>
          <a:prstGeom prst="roundRect">
            <a:avLst>
              <a:gd name="adj" fmla="val 6173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77824" y="1115568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8912" y="2286000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Question NL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2880360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Entrée utilisateur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en langage naturel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2606040"/>
            <a:ext cx="1828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1005840"/>
            <a:ext cx="1481328" cy="3200400"/>
          </a:xfrm>
          <a:prstGeom prst="roundRect">
            <a:avLst>
              <a:gd name="adj" fmla="val 6173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1115568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6544" y="169164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39696" y="2286000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Détection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d'entités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39696" y="2880360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Matching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normalize + alias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606040"/>
            <a:ext cx="1828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7328" y="1005840"/>
            <a:ext cx="1481328" cy="3200400"/>
          </a:xfrm>
          <a:prstGeom prst="roundRect">
            <a:avLst>
              <a:gd name="adj" fmla="val 6173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1115568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67328" y="169164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840480" y="2286000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Génération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SPARQL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0" y="2880360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Patterns regex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→ requête SPARQL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66944" y="2606040"/>
            <a:ext cx="1828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1005840"/>
            <a:ext cx="1481328" cy="3200400"/>
          </a:xfrm>
          <a:prstGeom prst="roundRect">
            <a:avLst>
              <a:gd name="adj" fmla="val 6173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0176" y="1115568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169164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🗃️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41264" y="2286000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Exécution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RDF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41264" y="2880360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rdflib exécute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sur le graphe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67728" y="2606040"/>
            <a:ext cx="1828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8896" y="1005840"/>
            <a:ext cx="1481328" cy="3200400"/>
          </a:xfrm>
          <a:prstGeom prst="roundRect">
            <a:avLst>
              <a:gd name="adj" fmla="val 6173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80960" y="1115568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68896" y="169164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42048" y="2286000"/>
            <a:ext cx="13350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Réponse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9F9"/>
                </a:solidFill>
              </a:rPr>
              <a:t>lisible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42048" y="2880360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Labels extraits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BB7"/>
                </a:solidFill>
              </a:rPr>
              <a:t>puis affichés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de connaissances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FFFFF"/>
                </a:solidFill>
              </a:rPr>
              <a:t>films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51760" y="9601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98755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5176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FFFFF"/>
                </a:solidFill>
              </a:rPr>
              <a:t>réalisateurs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8755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0060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FFFFF"/>
                </a:solidFill>
              </a:rPr>
              <a:t>acteurs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49440" y="9601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98755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~60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494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FFFFF"/>
                </a:solidFill>
              </a:rPr>
              <a:t>triplets RDF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39319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331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Exemples de triplets RDF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432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ex:Inception  rdf:type  ex:Movie
</a:t>
            </a:r>
            <a:pPr indent="0" marL="0">
              <a:buNone/>
            </a:pPr>
            <a:r>
              <a:rPr lang="en-US" sz="1050" dirty="0">
                <a:solidFill>
                  <a:srgbClr val="2E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ex:Inception  ex:directedBy  ex:Christopher_Nolan
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ex:Inception  ex:starring  ex:Leonardo_DiCaprio
</a:t>
            </a:r>
            <a:pPr indent="0" marL="0">
              <a:buNone/>
            </a:pPr>
            <a:r>
              <a:rPr lang="en-US" sz="1050" dirty="0">
                <a:solidFill>
                  <a:srgbClr val="2E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ex:Inception  ex:releaseYear  2010
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ex:Inception  ex:genre  "Science Fiction"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194560"/>
            <a:ext cx="39319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0E4E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331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Prédicats disponibles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ex:directedBy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ex:starring
</a:t>
            </a:r>
            <a:pPr indent="0" marL="0">
              <a:buNone/>
            </a:pPr>
            <a:r>
              <a:rPr lang="en-US" sz="1150" dirty="0">
                <a:solidFill>
                  <a:srgbClr val="2E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ex:releaseYear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ex:genre
</a:t>
            </a:r>
            <a:pPr indent="0" marL="0">
              <a:buNone/>
            </a:pPr>
            <a:r>
              <a:rPr lang="en-US" sz="1150" dirty="0">
                <a:solidFill>
                  <a:srgbClr val="2E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rdfs:label
</a:t>
            </a:r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rdf:type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Linking &amp; Génération SPARQL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31920" cy="3703320"/>
          </a:xfrm>
          <a:prstGeom prst="roundRect">
            <a:avLst>
              <a:gd name="adj" fmla="val 2469"/>
            </a:avLst>
          </a:prstGeom>
          <a:solidFill>
            <a:srgbClr val="16233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78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🔗  Entity Linking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normalize(text):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'Christopher Nolan'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→ 'christopher nolan'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re.sub(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r'[^a-z0-9]+', ' 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text.lower()).strip()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resolve_entity(text):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 = normalize(text)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lookup exact then partial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entity_aliases[key]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3931920" cy="3703320"/>
          </a:xfrm>
          <a:prstGeom prst="roundRect">
            <a:avLst>
              <a:gd name="adj" fmla="val 2469"/>
            </a:avLst>
          </a:prstGeom>
          <a:solidFill>
            <a:srgbClr val="16233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78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⚙️  Génération SPARQL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572768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 →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r'^who directed (.+)$'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director_of_movie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SPARQL généré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?answerLabel WHERE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&lt;ex:Inception&gt;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ex:directedBy ?answer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?answer rdfs:label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?answerLabel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B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supportées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520440" y="1051560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10515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1-hop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  Who directed Inception?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90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A6E"/>
                </a:solidFill>
              </a:rPr>
              <a:t>→  Christopher Nolan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18120" y="1051560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0515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1-hop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  Which movies did Christopher Nolan direct?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1490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A6E"/>
                </a:solidFill>
              </a:rPr>
              <a:t>→  Inception, Interstellar, Oppenheimer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58568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2350008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35000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1-hop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23500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  Who starred in Titanic?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A6E"/>
                </a:solidFill>
              </a:rPr>
              <a:t>→  Leonardo DiCaprio, Kate Winslet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258568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18120" y="2350008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235000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1-hop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23500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  Which movies feature Leonardo DiCaprio?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A6E"/>
                </a:solidFill>
              </a:rPr>
              <a:t>→  Inception, Titanic, The Revenant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557016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20440" y="3648456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5E81AC"/>
          </a:solidFill>
          <a:ln w="12700">
            <a:solidFill>
              <a:srgbClr val="5E81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64845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filtre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36484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  Which movies were released in 2010?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40873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A6E"/>
                </a:solidFill>
              </a:rPr>
              <a:t>→  Inception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557016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18120" y="3648456"/>
            <a:ext cx="804672" cy="237744"/>
          </a:xfrm>
          <a:prstGeom prst="roundRect">
            <a:avLst>
              <a:gd name="adj" fmla="val 19231"/>
            </a:avLst>
          </a:prstGeom>
          <a:solidFill>
            <a:srgbClr val="BF616A"/>
          </a:solidFill>
          <a:ln w="12700">
            <a:solidFill>
              <a:srgbClr val="BF61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364845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multi-hop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0" y="36484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Q  Which directors worked on movies starring DiCaprio?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40873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A6E"/>
                </a:solidFill>
              </a:rPr>
              <a:t>→  Nolan, Cameron, Inarritu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Mini-évaluation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60320" cy="2560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100%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BB7"/>
                </a:solidFill>
              </a:rPr>
              <a:t>exact match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960120"/>
          <a:ext cx="5394960" cy="3200400"/>
        </p:xfrm>
        <a:graphic>
          <a:graphicData uri="http://schemas.openxmlformats.org/drawingml/2006/table">
            <a:tbl>
              <a:tblPr/>
              <a:tblGrid>
                <a:gridCol w="448056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Résultat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9F9"/>
                          </a:solidFill>
                        </a:rPr>
                        <a:t>Who directed Inception?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9F9"/>
                          </a:solidFill>
                        </a:rPr>
                        <a:t>Which movies did Christopher Nolan direct?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9F9"/>
                          </a:solidFill>
                        </a:rPr>
                        <a:t>Who starred in Titanic?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9F9"/>
                          </a:solidFill>
                        </a:rPr>
                        <a:t>Which movies feature Leonardo DiCaprio?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9F9"/>
                          </a:solidFill>
                        </a:rPr>
                        <a:t>What genre is Interstellar?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Perspectives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DECEA"/>
          </a:solidFill>
          <a:ln w="15240">
            <a:solidFill>
              <a:srgbClr val="F28B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097280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⚠️  Limites actuelles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7512" y="1627632"/>
            <a:ext cx="360273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Templates figés : ne couvre pas les paraphrases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Entity linking exact/partiel, pas de NER robuste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Graphe limité (6 films) — non scalable tel quel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Pas de gestion des ambiguïtés ou entités inconnues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96012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E8F5E9"/>
          </a:solidFill>
          <a:ln w="15240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65192" y="1097280"/>
            <a:ext cx="3602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🚀  Pistes d'amélioration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65192" y="1627632"/>
            <a:ext cx="3602736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Module NER + EL sur Wikidata / DBpedia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Parseur sémantique plus général (SEMPRE, ATIS)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LLM-assisted SPARQL generation (GPT-4, Claude)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Benchmark LC-QuAD / WebQuestionsSP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F8B8D">
              <a:alpha val="15000"/>
            </a:srgbClr>
          </a:solidFill>
          <a:ln w="12700">
            <a:solidFill>
              <a:srgbClr val="0F8B8D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8B8D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KGQA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F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clair, complet et exécutable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217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EABB7"/>
                </a:solidFill>
              </a:rPr>
              <a:t>📊  Graphe RDF construit avec rdflib — ~60 triplets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EABB7"/>
                </a:solidFill>
              </a:rPr>
              <a:t>🔍  Entity linking par normalisation + aliases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EABB7"/>
                </a:solidFill>
              </a:rPr>
              <a:t>⚙️  7 patterns regex → 7 types de requêtes SPARQL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EABB7"/>
                </a:solidFill>
              </a:rPr>
              <a:t>✅  100% exact match sur le jeu d'évaluation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EABB7"/>
                </a:solidFill>
              </a:rPr>
              <a:t>📐  Pipeline déterministe, facilement extensible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H3 — Knowledge Graph Question Answering</dc:title>
  <dc:subject>PptxGenJS Presentation</dc:subject>
  <dc:creator>PptxGenJS</dc:creator>
  <cp:lastModifiedBy>PptxGenJS</cp:lastModifiedBy>
  <cp:revision>1</cp:revision>
  <dcterms:created xsi:type="dcterms:W3CDTF">2026-06-25T07:01:57Z</dcterms:created>
  <dcterms:modified xsi:type="dcterms:W3CDTF">2026-06-25T07:01:57Z</dcterms:modified>
</cp:coreProperties>
</file>