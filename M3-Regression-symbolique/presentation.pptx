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51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75" d="100"/>
          <a:sy n="75" d="100"/>
        </p:scale>
        <p:origin x="191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background">
            <a:extLst>
              <a:ext uri="{FF2B5EF4-FFF2-40B4-BE49-F238E27FC236}">
                <a16:creationId xmlns:a16="http://schemas.microsoft.com/office/drawing/2014/main" id="{49D89BAB-9D3A-4810-BB16-4C3C59DBB4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9D08B709-2F73-44C7-9D8E-BE7035B9D5A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323850" cy="381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3A70F4B-D9C8-4F09-8EC1-B9381D8CF01B}"/>
              </a:ext>
            </a:extLst>
          </p:cNvPr>
          <p:cNvSpPr>
            <a:spLocks noGrp="1"/>
          </p:cNvSpPr>
          <p:nvPr/>
        </p:nvSpPr>
        <p:spPr>
          <a:xfrm>
            <a:off x="112395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M3 - REGRESSION SYMBOLIQUE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706485-55BA-4109-BCFB-36968FBFBE6A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810500" cy="1047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PySR retrouve des lois physiques lisibles a partir de donnees.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143690-DF96-4ECB-9FAF-86AB3F8F8441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723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Projet: decouvrir automatiquement des equations mathematiques, puis comparer precision, parcimonie et interpretabilite.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908FD4-45FA-4F67-87F2-88D710DF2A31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22669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05A529-1396-4725-82CF-45F71A9C0DEF}"/>
              </a:ext>
            </a:extLst>
          </p:cNvPr>
          <p:cNvSpPr>
            <a:spLocks noGrp="1"/>
          </p:cNvSpPr>
          <p:nvPr/>
        </p:nvSpPr>
        <p:spPr>
          <a:xfrm>
            <a:off x="685800" y="3105150"/>
            <a:ext cx="47625" cy="11811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B31712-C800-4AC9-A730-E51ED0225CB9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2057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3 / 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3E34F-EC17-4F55-9225-2E0B09BE2EBE}"/>
              </a:ext>
            </a:extLst>
          </p:cNvPr>
          <p:cNvSpPr>
            <a:spLocks noGrp="1"/>
          </p:cNvSpPr>
          <p:nvPr/>
        </p:nvSpPr>
        <p:spPr>
          <a:xfrm>
            <a:off x="895350" y="36576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lois physiques recuperees par PySR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2700B6-E7C8-48BB-B91F-37267FCF7C79}"/>
              </a:ext>
            </a:extLst>
          </p:cNvPr>
          <p:cNvSpPr>
            <a:spLocks noGrp="1"/>
          </p:cNvSpPr>
          <p:nvPr/>
        </p:nvSpPr>
        <p:spPr>
          <a:xfrm>
            <a:off x="3352800" y="3105150"/>
            <a:ext cx="22669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372-9DF2-46C0-9E93-00734ECD758F}"/>
              </a:ext>
            </a:extLst>
          </p:cNvPr>
          <p:cNvSpPr>
            <a:spLocks noGrp="1"/>
          </p:cNvSpPr>
          <p:nvPr/>
        </p:nvSpPr>
        <p:spPr>
          <a:xfrm>
            <a:off x="3352800" y="3105150"/>
            <a:ext cx="47625" cy="11811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270B97-B052-4E59-8698-72FC7534B1D5}"/>
              </a:ext>
            </a:extLst>
          </p:cNvPr>
          <p:cNvSpPr>
            <a:spLocks noGrp="1"/>
          </p:cNvSpPr>
          <p:nvPr/>
        </p:nvSpPr>
        <p:spPr>
          <a:xfrm>
            <a:off x="3562350" y="3276600"/>
            <a:ext cx="22479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R2 &gt; 0.999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ECECFC1-050F-4F09-B518-A33EC785958F}"/>
              </a:ext>
            </a:extLst>
          </p:cNvPr>
          <p:cNvSpPr>
            <a:spLocks noGrp="1"/>
          </p:cNvSpPr>
          <p:nvPr/>
        </p:nvSpPr>
        <p:spPr>
          <a:xfrm>
            <a:off x="3562350" y="3657600"/>
            <a:ext cx="22479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sur les trois datasets du run rapide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3D6ACB-2AEF-4F5F-B9A4-83A09E7E7E8A}"/>
              </a:ext>
            </a:extLst>
          </p:cNvPr>
          <p:cNvSpPr>
            <a:spLocks noGrp="1"/>
          </p:cNvSpPr>
          <p:nvPr/>
        </p:nvSpPr>
        <p:spPr>
          <a:xfrm>
            <a:off x="6019800" y="3105150"/>
            <a:ext cx="2038350" cy="11811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E1815F-ED0D-4D90-8AAA-2C675098BA2D}"/>
              </a:ext>
            </a:extLst>
          </p:cNvPr>
          <p:cNvSpPr>
            <a:spLocks noGrp="1"/>
          </p:cNvSpPr>
          <p:nvPr/>
        </p:nvSpPr>
        <p:spPr>
          <a:xfrm>
            <a:off x="6019800" y="3105150"/>
            <a:ext cx="47625" cy="11811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BDD847-B09A-4B97-9E97-989FA8E48C1E}"/>
              </a:ext>
            </a:extLst>
          </p:cNvPr>
          <p:cNvSpPr>
            <a:spLocks noGrp="1"/>
          </p:cNvSpPr>
          <p:nvPr/>
        </p:nvSpPr>
        <p:spPr>
          <a:xfrm>
            <a:off x="6229350" y="3276600"/>
            <a:ext cx="20574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5 tests OK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51C5C7-34E8-4B23-AC8E-09310E3D87FA}"/>
              </a:ext>
            </a:extLst>
          </p:cNvPr>
          <p:cNvSpPr>
            <a:spLocks noGrp="1"/>
          </p:cNvSpPr>
          <p:nvPr/>
        </p:nvSpPr>
        <p:spPr>
          <a:xfrm>
            <a:off x="6229350" y="3657600"/>
            <a:ext cx="2057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chaine experimentale verifiee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AA1D3A-BA51-4394-AD4A-2C274E194260}"/>
              </a:ext>
            </a:extLst>
          </p:cNvPr>
          <p:cNvSpPr>
            <a:spLocks noGrp="1"/>
          </p:cNvSpPr>
          <p:nvPr/>
        </p:nvSpPr>
        <p:spPr>
          <a:xfrm>
            <a:off x="8648700" y="723899"/>
            <a:ext cx="2857500" cy="4268725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4970DAE-AC22-4B5E-AFD1-F675F96831A9}"/>
              </a:ext>
            </a:extLst>
          </p:cNvPr>
          <p:cNvSpPr>
            <a:spLocks noGrp="1"/>
          </p:cNvSpPr>
          <p:nvPr/>
        </p:nvSpPr>
        <p:spPr>
          <a:xfrm>
            <a:off x="8934450" y="9906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4512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4512F"/>
                </a:solidFill>
                <a:latin typeface="Aptos"/>
                <a:ea typeface="Aptos"/>
                <a:cs typeface="Aptos"/>
              </a:rPr>
              <a:t>LOIS CIBLES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618EA4-7F6C-4AFA-869C-48555DBECF3F}"/>
              </a:ext>
            </a:extLst>
          </p:cNvPr>
          <p:cNvSpPr>
            <a:spLocks noGrp="1"/>
          </p:cNvSpPr>
          <p:nvPr/>
        </p:nvSpPr>
        <p:spPr>
          <a:xfrm>
            <a:off x="8934450" y="146685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 = m1*m2/r^2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EF73983-751C-44E7-8223-FDC9A009FBFC}"/>
              </a:ext>
            </a:extLst>
          </p:cNvPr>
          <p:cNvSpPr>
            <a:spLocks noGrp="1"/>
          </p:cNvSpPr>
          <p:nvPr/>
        </p:nvSpPr>
        <p:spPr>
          <a:xfrm>
            <a:off x="8934450" y="1943100"/>
            <a:ext cx="2190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 = n*T/V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159190-749D-4974-B0FA-CA33C2F7573D}"/>
              </a:ext>
            </a:extLst>
          </p:cNvPr>
          <p:cNvSpPr>
            <a:spLocks noGrp="1"/>
          </p:cNvSpPr>
          <p:nvPr/>
        </p:nvSpPr>
        <p:spPr>
          <a:xfrm>
            <a:off x="8934450" y="2419350"/>
            <a:ext cx="23431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fr-FR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 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=</a:t>
            </a:r>
            <a:r>
              <a:rPr lang="fr-FR"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(g/L)*sin(theta)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C69B99B-DECA-48A6-B253-6769E0E73C04}"/>
              </a:ext>
            </a:extLst>
          </p:cNvPr>
          <p:cNvSpPr>
            <a:spLocks noGrp="1"/>
          </p:cNvSpPr>
          <p:nvPr/>
        </p:nvSpPr>
        <p:spPr>
          <a:xfrm>
            <a:off x="8934450" y="3747516"/>
            <a:ext cx="2190750" cy="9525"/>
          </a:xfrm>
          <a:prstGeom prst="rect">
            <a:avLst/>
          </a:prstGeom>
          <a:solidFill>
            <a:srgbClr val="45515A"/>
          </a:solidFill>
          <a:ln w="0">
            <a:solidFill>
              <a:srgbClr val="455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B43EDB-A0FC-4F60-A682-C73C97F030DE}"/>
              </a:ext>
            </a:extLst>
          </p:cNvPr>
          <p:cNvSpPr>
            <a:spLocks noGrp="1"/>
          </p:cNvSpPr>
          <p:nvPr/>
        </p:nvSpPr>
        <p:spPr>
          <a:xfrm>
            <a:off x="8934450" y="3995166"/>
            <a:ext cx="21717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G et R sont normalisees pour concentrer la recherche sur la structure symbolique.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E4A5BB-D244-4F78-9104-3A10EB353D6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84FE61D-D1F1-4EE4-990B-BC707EBA4D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Sources: README.md, outputs_run/reports/report.md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8C371F4-7E60-4FDD-B273-435B847BBFF9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68770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background">
            <a:extLst>
              <a:ext uri="{FF2B5EF4-FFF2-40B4-BE49-F238E27FC236}">
                <a16:creationId xmlns:a16="http://schemas.microsoft.com/office/drawing/2014/main" id="{F54AFD13-1795-4FD7-B255-A63BF8AF98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471C0A9A-DC55-4B16-9F0E-17CBE6E6029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323850" cy="381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AB55A715-FE69-4619-A579-942CF038979F}"/>
              </a:ext>
            </a:extLst>
          </p:cNvPr>
          <p:cNvSpPr>
            <a:spLocks noGrp="1"/>
          </p:cNvSpPr>
          <p:nvPr/>
        </p:nvSpPr>
        <p:spPr>
          <a:xfrm>
            <a:off x="112395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59A1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A14F"/>
                </a:solidFill>
                <a:latin typeface="Aptos"/>
                <a:ea typeface="Aptos"/>
                <a:cs typeface="Aptos"/>
              </a:rPr>
              <a:t>OBJECTIFS DU README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FE5BF0-380B-437E-961A-1E6358CEA94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8763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Les objectifs annonces sont couverts par les sorties generees.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BE5E3C-4A8F-4D18-9F99-CDE4FC41D47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382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Chaque objectif du README a une preuve concrete dans outputs_run: donnees, equations candidates, metriques, graphes et rapport.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0A5046-B67F-40DD-90D7-ED9F975DDAD9}"/>
              </a:ext>
            </a:extLst>
          </p:cNvPr>
          <p:cNvSpPr>
            <a:spLocks noGrp="1"/>
          </p:cNvSpPr>
          <p:nvPr/>
        </p:nvSpPr>
        <p:spPr>
          <a:xfrm>
            <a:off x="838200" y="2381250"/>
            <a:ext cx="105156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DBC4F-A66F-47A7-AC40-A56C45349F96}"/>
              </a:ext>
            </a:extLst>
          </p:cNvPr>
          <p:cNvSpPr>
            <a:spLocks noGrp="1"/>
          </p:cNvSpPr>
          <p:nvPr/>
        </p:nvSpPr>
        <p:spPr>
          <a:xfrm>
            <a:off x="990600" y="2600325"/>
            <a:ext cx="1104900" cy="2667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2D8C26-1D8D-4A01-97DD-7C44BC309E2F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ATTEINT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69A53E-DE26-4EDD-A913-1A7EB0673200}"/>
              </a:ext>
            </a:extLst>
          </p:cNvPr>
          <p:cNvSpPr>
            <a:spLocks noGrp="1"/>
          </p:cNvSpPr>
          <p:nvPr/>
        </p:nvSpPr>
        <p:spPr>
          <a:xfrm>
            <a:off x="2343150" y="2524125"/>
            <a:ext cx="3733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Decouvrir des equations mathematiques avec PySR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E4424A-8067-43E4-8506-ED38AA6B3E51}"/>
              </a:ext>
            </a:extLst>
          </p:cNvPr>
          <p:cNvSpPr>
            <a:spLocks noGrp="1"/>
          </p:cNvSpPr>
          <p:nvPr/>
        </p:nvSpPr>
        <p:spPr>
          <a:xfrm>
            <a:off x="6381750" y="2524125"/>
            <a:ext cx="4552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Equations retenues: gravite, gaz parfait et pendule dans outputs_run/results/*_pysr_equations.csv.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C6089-D5E3-4815-80E3-A9F33EB29D38}"/>
              </a:ext>
            </a:extLst>
          </p:cNvPr>
          <p:cNvSpPr>
            <a:spLocks noGrp="1"/>
          </p:cNvSpPr>
          <p:nvPr/>
        </p:nvSpPr>
        <p:spPr>
          <a:xfrm>
            <a:off x="838200" y="3238500"/>
            <a:ext cx="105156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38FCE4B-420F-4440-820C-BA90853C575C}"/>
              </a:ext>
            </a:extLst>
          </p:cNvPr>
          <p:cNvSpPr>
            <a:spLocks noGrp="1"/>
          </p:cNvSpPr>
          <p:nvPr/>
        </p:nvSpPr>
        <p:spPr>
          <a:xfrm>
            <a:off x="990600" y="3457575"/>
            <a:ext cx="1104900" cy="2667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4F450-D011-4D42-BDA4-CC19FB502BB7}"/>
              </a:ext>
            </a:extLst>
          </p:cNvPr>
          <p:cNvSpPr>
            <a:spLocks noGrp="1"/>
          </p:cNvSpPr>
          <p:nvPr/>
        </p:nvSpPr>
        <p:spPr>
          <a:xfrm>
            <a:off x="990600" y="350520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0267CC-B5D5-4AAD-AF14-002AB268D064}"/>
              </a:ext>
            </a:extLst>
          </p:cNvPr>
          <p:cNvSpPr>
            <a:spLocks noGrp="1"/>
          </p:cNvSpPr>
          <p:nvPr/>
        </p:nvSpPr>
        <p:spPr>
          <a:xfrm>
            <a:off x="2343150" y="3381375"/>
            <a:ext cx="3733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Evaluer precision, parcimonie et interpretabilite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EAB601-89B4-43CB-A358-3A7FA076E2BF}"/>
              </a:ext>
            </a:extLst>
          </p:cNvPr>
          <p:cNvSpPr>
            <a:spLocks noGrp="1"/>
          </p:cNvSpPr>
          <p:nvPr/>
        </p:nvSpPr>
        <p:spPr>
          <a:xfrm>
            <a:off x="6381750" y="3381375"/>
            <a:ext cx="4552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metrics.csv contient RMSE, MAE, R2, MAPE, complexite, proxy Kolmogorov et score d'interpretabilite.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646145D-1D5C-484B-8684-CC48C59D41F4}"/>
              </a:ext>
            </a:extLst>
          </p:cNvPr>
          <p:cNvSpPr>
            <a:spLocks noGrp="1"/>
          </p:cNvSpPr>
          <p:nvPr/>
        </p:nvSpPr>
        <p:spPr>
          <a:xfrm>
            <a:off x="838200" y="4095750"/>
            <a:ext cx="105156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D8630A-5F4F-448E-B6B5-E538A0DF619D}"/>
              </a:ext>
            </a:extLst>
          </p:cNvPr>
          <p:cNvSpPr>
            <a:spLocks noGrp="1"/>
          </p:cNvSpPr>
          <p:nvPr/>
        </p:nvSpPr>
        <p:spPr>
          <a:xfrm>
            <a:off x="990600" y="4314825"/>
            <a:ext cx="1104900" cy="2667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52A7538-3B0D-4B69-9FBE-09C975FC4EE9}"/>
              </a:ext>
            </a:extLst>
          </p:cNvPr>
          <p:cNvSpPr>
            <a:spLocks noGrp="1"/>
          </p:cNvSpPr>
          <p:nvPr/>
        </p:nvSpPr>
        <p:spPr>
          <a:xfrm>
            <a:off x="990600" y="436245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ATTEINT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8762D7-99F2-4A2F-936E-56D1A78DA201}"/>
              </a:ext>
            </a:extLst>
          </p:cNvPr>
          <p:cNvSpPr>
            <a:spLocks noGrp="1"/>
          </p:cNvSpPr>
          <p:nvPr/>
        </p:nvSpPr>
        <p:spPr>
          <a:xfrm>
            <a:off x="2343150" y="4238625"/>
            <a:ext cx="3733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Comparer aux regressions classiques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2EC3741-1822-48FA-B2AF-9C81C7D161F9}"/>
              </a:ext>
            </a:extLst>
          </p:cNvPr>
          <p:cNvSpPr>
            <a:spLocks noGrp="1"/>
          </p:cNvSpPr>
          <p:nvPr/>
        </p:nvSpPr>
        <p:spPr>
          <a:xfrm>
            <a:off x="6381750" y="4238625"/>
            <a:ext cx="4552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model_comparison.png confronte PySR a polynomial_degree_3 et kernel_ridge_rbf.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5B3F4E-305F-469D-A1EA-F9EF10EF70C3}"/>
              </a:ext>
            </a:extLst>
          </p:cNvPr>
          <p:cNvSpPr>
            <a:spLocks noGrp="1"/>
          </p:cNvSpPr>
          <p:nvPr/>
        </p:nvSpPr>
        <p:spPr>
          <a:xfrm>
            <a:off x="838200" y="4953000"/>
            <a:ext cx="105156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D54F5E-8607-49CF-AE7C-8FA75D977763}"/>
              </a:ext>
            </a:extLst>
          </p:cNvPr>
          <p:cNvSpPr>
            <a:spLocks noGrp="1"/>
          </p:cNvSpPr>
          <p:nvPr/>
        </p:nvSpPr>
        <p:spPr>
          <a:xfrm>
            <a:off x="990600" y="5172075"/>
            <a:ext cx="1104900" cy="2667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06C2D43-F41B-4B42-A254-8C791AEEAF6E}"/>
              </a:ext>
            </a:extLst>
          </p:cNvPr>
          <p:cNvSpPr>
            <a:spLocks noGrp="1"/>
          </p:cNvSpPr>
          <p:nvPr/>
        </p:nvSpPr>
        <p:spPr>
          <a:xfrm>
            <a:off x="990600" y="5219700"/>
            <a:ext cx="11049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ATTEINT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BD0F6AB-904E-4F6E-A565-F334D029C7E4}"/>
              </a:ext>
            </a:extLst>
          </p:cNvPr>
          <p:cNvSpPr>
            <a:spLocks noGrp="1"/>
          </p:cNvSpPr>
          <p:nvPr/>
        </p:nvSpPr>
        <p:spPr>
          <a:xfrm>
            <a:off x="2343150" y="5095875"/>
            <a:ext cx="37338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Analyser la frontiere de Pareto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B25D96-3B42-4C82-8DF5-7C49686C2CF1}"/>
              </a:ext>
            </a:extLst>
          </p:cNvPr>
          <p:cNvSpPr>
            <a:spLocks noGrp="1"/>
          </p:cNvSpPr>
          <p:nvPr/>
        </p:nvSpPr>
        <p:spPr>
          <a:xfrm>
            <a:off x="6381750" y="5095875"/>
            <a:ext cx="45529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Les trois graphes *_pareto.png montrent le compromis erreur / complexite et l'equation retenue.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EB07FAC-846F-4871-8001-079F0798D2C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2EB7B9-8125-481D-876C-FF4C5E3F21AD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Sources: README.md, outputs_run/results, outputs_run/figures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A71277-DC55-475D-96B3-68C27F84F4B3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622296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background">
            <a:extLst>
              <a:ext uri="{FF2B5EF4-FFF2-40B4-BE49-F238E27FC236}">
                <a16:creationId xmlns:a16="http://schemas.microsoft.com/office/drawing/2014/main" id="{FACB45F9-6187-4EEC-A5A8-171DAA2AD5D5}"/>
              </a:ext>
            </a:extLst>
          </p:cNvPr>
          <p:cNvSpPr>
            <a:spLocks noGrp="1"/>
          </p:cNvSpPr>
          <p:nvPr/>
        </p:nvSpPr>
        <p:spPr>
          <a:xfrm>
            <a:off x="0" y="-1270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2C2C5A1-E4CD-4C1A-B563-F36DFAD8C62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323850" cy="381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03531CC-3F90-4189-B545-54AF7F274D25}"/>
              </a:ext>
            </a:extLst>
          </p:cNvPr>
          <p:cNvSpPr>
            <a:spLocks noGrp="1"/>
          </p:cNvSpPr>
          <p:nvPr/>
        </p:nvSpPr>
        <p:spPr>
          <a:xfrm>
            <a:off x="112395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PROTOCOLE EXPERIMENTAL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0DDED6-7047-414D-8579-9029B71CFA58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5250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75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Le pipeline mesure le compromis precision / simplicite, pas seulement l'erreur.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3663E3-FC1E-4CEA-9D20-2800343D5666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809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La sequence ci-dessous montre ou les baselines et PySR entrent dans l'evaluation.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D1D3CD-D73A-40FE-AA3A-67624123553E}"/>
              </a:ext>
            </a:extLst>
          </p:cNvPr>
          <p:cNvSpPr>
            <a:spLocks noGrp="1"/>
          </p:cNvSpPr>
          <p:nvPr/>
        </p:nvSpPr>
        <p:spPr>
          <a:xfrm>
            <a:off x="685800" y="2647950"/>
            <a:ext cx="2000250" cy="1409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0F754B-EDD7-4D52-9A2F-7F8B8F8DB902}"/>
              </a:ext>
            </a:extLst>
          </p:cNvPr>
          <p:cNvSpPr>
            <a:spLocks noGrp="1"/>
          </p:cNvSpPr>
          <p:nvPr/>
        </p:nvSpPr>
        <p:spPr>
          <a:xfrm>
            <a:off x="857250" y="2819400"/>
            <a:ext cx="304800" cy="304800"/>
          </a:xfrm>
          <a:prstGeom prst="ellipse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F113B4-F264-472B-8201-A4FAC02E47CC}"/>
              </a:ext>
            </a:extLst>
          </p:cNvPr>
          <p:cNvSpPr>
            <a:spLocks noGrp="1"/>
          </p:cNvSpPr>
          <p:nvPr/>
        </p:nvSpPr>
        <p:spPr>
          <a:xfrm>
            <a:off x="857250" y="28765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1281C6-A906-4E71-8F99-D88341E151B7}"/>
              </a:ext>
            </a:extLst>
          </p:cNvPr>
          <p:cNvSpPr>
            <a:spLocks noGrp="1"/>
          </p:cNvSpPr>
          <p:nvPr/>
        </p:nvSpPr>
        <p:spPr>
          <a:xfrm>
            <a:off x="1295400" y="28384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Donnees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A7235C-84D4-4716-802F-1C27F5BC799C}"/>
              </a:ext>
            </a:extLst>
          </p:cNvPr>
          <p:cNvSpPr>
            <a:spLocks noGrp="1"/>
          </p:cNvSpPr>
          <p:nvPr/>
        </p:nvSpPr>
        <p:spPr>
          <a:xfrm>
            <a:off x="895350" y="33147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Datasets synthetiques: gravite, gaz parfait, pendule avec bruit controle.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C295DF-6817-454C-8ACF-739159CB3771}"/>
              </a:ext>
            </a:extLst>
          </p:cNvPr>
          <p:cNvSpPr>
            <a:spLocks noGrp="1"/>
          </p:cNvSpPr>
          <p:nvPr/>
        </p:nvSpPr>
        <p:spPr>
          <a:xfrm>
            <a:off x="3429000" y="2647950"/>
            <a:ext cx="2000250" cy="14097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D8BD2D-AFF9-4194-8F50-5E49B42A8782}"/>
              </a:ext>
            </a:extLst>
          </p:cNvPr>
          <p:cNvSpPr>
            <a:spLocks noGrp="1"/>
          </p:cNvSpPr>
          <p:nvPr/>
        </p:nvSpPr>
        <p:spPr>
          <a:xfrm>
            <a:off x="3600450" y="2819400"/>
            <a:ext cx="304800" cy="304800"/>
          </a:xfrm>
          <a:prstGeom prst="ellipse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8D0A0D-0FED-43DA-AD8B-AD19F33BF67C}"/>
              </a:ext>
            </a:extLst>
          </p:cNvPr>
          <p:cNvSpPr>
            <a:spLocks noGrp="1"/>
          </p:cNvSpPr>
          <p:nvPr/>
        </p:nvSpPr>
        <p:spPr>
          <a:xfrm>
            <a:off x="3600450" y="28765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811027-D149-4971-BC39-820D86B8FC21}"/>
              </a:ext>
            </a:extLst>
          </p:cNvPr>
          <p:cNvSpPr>
            <a:spLocks noGrp="1"/>
          </p:cNvSpPr>
          <p:nvPr/>
        </p:nvSpPr>
        <p:spPr>
          <a:xfrm>
            <a:off x="4038600" y="28384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FEF004-57C7-4D2E-8C03-6E5B6EFC5387}"/>
              </a:ext>
            </a:extLst>
          </p:cNvPr>
          <p:cNvSpPr>
            <a:spLocks noGrp="1"/>
          </p:cNvSpPr>
          <p:nvPr/>
        </p:nvSpPr>
        <p:spPr>
          <a:xfrm>
            <a:off x="3638550" y="33147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Train/test pour evaluer la generalisation des equations candidates.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860C9E-1D80-4A04-839A-032F1C5051C8}"/>
              </a:ext>
            </a:extLst>
          </p:cNvPr>
          <p:cNvSpPr>
            <a:spLocks noGrp="1"/>
          </p:cNvSpPr>
          <p:nvPr/>
        </p:nvSpPr>
        <p:spPr>
          <a:xfrm>
            <a:off x="6172200" y="2647950"/>
            <a:ext cx="2000250" cy="14097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383B7C8-3A80-4F73-AA45-65B03807F797}"/>
              </a:ext>
            </a:extLst>
          </p:cNvPr>
          <p:cNvSpPr>
            <a:spLocks noGrp="1"/>
          </p:cNvSpPr>
          <p:nvPr/>
        </p:nvSpPr>
        <p:spPr>
          <a:xfrm>
            <a:off x="6343650" y="2819400"/>
            <a:ext cx="304800" cy="304800"/>
          </a:xfrm>
          <a:prstGeom prst="ellipse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1D0752-0F22-4207-BB7A-C3C355971D86}"/>
              </a:ext>
            </a:extLst>
          </p:cNvPr>
          <p:cNvSpPr>
            <a:spLocks noGrp="1"/>
          </p:cNvSpPr>
          <p:nvPr/>
        </p:nvSpPr>
        <p:spPr>
          <a:xfrm>
            <a:off x="6343650" y="28765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CEB518-00DD-4AD3-A24A-5C136E521A68}"/>
              </a:ext>
            </a:extLst>
          </p:cNvPr>
          <p:cNvSpPr>
            <a:spLocks noGrp="1"/>
          </p:cNvSpPr>
          <p:nvPr/>
        </p:nvSpPr>
        <p:spPr>
          <a:xfrm>
            <a:off x="6781800" y="28384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1D57A7-72BC-46A7-A156-72860CC12252}"/>
              </a:ext>
            </a:extLst>
          </p:cNvPr>
          <p:cNvSpPr>
            <a:spLocks noGrp="1"/>
          </p:cNvSpPr>
          <p:nvPr/>
        </p:nvSpPr>
        <p:spPr>
          <a:xfrm>
            <a:off x="6381750" y="33147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Ridge polynomial degre 3 et kernel ridge RBF comme references predictives.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EE7199-6A2C-451C-A59D-02E4C51FAF23}"/>
              </a:ext>
            </a:extLst>
          </p:cNvPr>
          <p:cNvSpPr>
            <a:spLocks noGrp="1"/>
          </p:cNvSpPr>
          <p:nvPr/>
        </p:nvSpPr>
        <p:spPr>
          <a:xfrm>
            <a:off x="8915400" y="2647950"/>
            <a:ext cx="2000250" cy="1409700"/>
          </a:xfrm>
          <a:prstGeom prst="rect">
            <a:avLst/>
          </a:prstGeom>
          <a:solidFill>
            <a:srgbClr val="FFFFFF"/>
          </a:solidFill>
          <a:ln w="1905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2F04254-D584-464F-A0AB-F72BD72A7537}"/>
              </a:ext>
            </a:extLst>
          </p:cNvPr>
          <p:cNvSpPr>
            <a:spLocks noGrp="1"/>
          </p:cNvSpPr>
          <p:nvPr/>
        </p:nvSpPr>
        <p:spPr>
          <a:xfrm>
            <a:off x="9086850" y="2819400"/>
            <a:ext cx="304800" cy="304800"/>
          </a:xfrm>
          <a:prstGeom prst="ellipse">
            <a:avLst/>
          </a:prstGeom>
          <a:solidFill>
            <a:srgbClr val="C4512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83AF61-AC09-4E07-84BB-820952261D38}"/>
              </a:ext>
            </a:extLst>
          </p:cNvPr>
          <p:cNvSpPr>
            <a:spLocks noGrp="1"/>
          </p:cNvSpPr>
          <p:nvPr/>
        </p:nvSpPr>
        <p:spPr>
          <a:xfrm>
            <a:off x="9086850" y="2876550"/>
            <a:ext cx="3048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CF0CC9A-DD0F-4FBC-B904-435ABA710335}"/>
              </a:ext>
            </a:extLst>
          </p:cNvPr>
          <p:cNvSpPr>
            <a:spLocks noGrp="1"/>
          </p:cNvSpPr>
          <p:nvPr/>
        </p:nvSpPr>
        <p:spPr>
          <a:xfrm>
            <a:off x="9525000" y="2838450"/>
            <a:ext cx="1181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PySR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F7C7C63-1C5F-4B89-8108-0B4EE555D512}"/>
              </a:ext>
            </a:extLst>
          </p:cNvPr>
          <p:cNvSpPr>
            <a:spLocks noGrp="1"/>
          </p:cNvSpPr>
          <p:nvPr/>
        </p:nvSpPr>
        <p:spPr>
          <a:xfrm>
            <a:off x="9124950" y="33147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Recherche symbolique avec +, -, *, /, sin, sqrt.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2099A0-9969-4353-A20E-3704A4EAA3FB}"/>
              </a:ext>
            </a:extLst>
          </p:cNvPr>
          <p:cNvSpPr>
            <a:spLocks noGrp="1"/>
          </p:cNvSpPr>
          <p:nvPr/>
        </p:nvSpPr>
        <p:spPr>
          <a:xfrm>
            <a:off x="1581150" y="4781550"/>
            <a:ext cx="9029700" cy="704850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CEEA2B-4A9C-4971-B166-791E260B152C}"/>
              </a:ext>
            </a:extLst>
          </p:cNvPr>
          <p:cNvSpPr>
            <a:spLocks noGrp="1"/>
          </p:cNvSpPr>
          <p:nvPr/>
        </p:nvSpPr>
        <p:spPr>
          <a:xfrm>
            <a:off x="1962150" y="4991100"/>
            <a:ext cx="8286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Sorties: data/*.csv  |  results/*_equations.csv  |  figures/*_pareto.png  |  reports/report.md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BFB68AE-3486-41AB-8764-B874FCBEB815}"/>
              </a:ext>
            </a:extLst>
          </p:cNvPr>
          <p:cNvSpPr>
            <a:spLocks noGrp="1"/>
          </p:cNvSpPr>
          <p:nvPr/>
        </p:nvSpPr>
        <p:spPr>
          <a:xfrm>
            <a:off x="1962150" y="5657850"/>
            <a:ext cx="828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Selection finale: point equilibre sur la frontiere de Pareto, avec penalite de complexite et proxy Kolmogorov.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3DEE6C8-8933-48D5-BBD0-734016AA0DAB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80B67B-5F13-44D3-8170-567EF10297A6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Source: src/m3_symbolic_regression/run_experiments.py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4D162C9-2D28-4077-AD86-D8000E1F1E68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39956BC-F3FA-56E5-0C3F-4763C4201140}"/>
              </a:ext>
            </a:extLst>
          </p:cNvPr>
          <p:cNvCxnSpPr>
            <a:stCxn id="6" idx="3"/>
            <a:endCxn id="13" idx="1"/>
          </p:cNvCxnSpPr>
          <p:nvPr/>
        </p:nvCxnSpPr>
        <p:spPr>
          <a:xfrm>
            <a:off x="2686050" y="3352800"/>
            <a:ext cx="7429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93C9C49-0ABC-E036-97B5-9EFA7A5F11DE}"/>
              </a:ext>
            </a:extLst>
          </p:cNvPr>
          <p:cNvCxnSpPr>
            <a:stCxn id="13" idx="3"/>
            <a:endCxn id="20" idx="1"/>
          </p:cNvCxnSpPr>
          <p:nvPr/>
        </p:nvCxnSpPr>
        <p:spPr>
          <a:xfrm>
            <a:off x="5429250" y="3352800"/>
            <a:ext cx="74295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53815E-A9F4-F063-67BF-9CCB69368EE0}"/>
              </a:ext>
            </a:extLst>
          </p:cNvPr>
          <p:cNvCxnSpPr>
            <a:stCxn id="20" idx="3"/>
            <a:endCxn id="27" idx="1"/>
          </p:cNvCxnSpPr>
          <p:nvPr/>
        </p:nvCxnSpPr>
        <p:spPr>
          <a:xfrm>
            <a:off x="8172450" y="3352800"/>
            <a:ext cx="742950" cy="0"/>
          </a:xfrm>
          <a:prstGeom prst="straightConnector1">
            <a:avLst/>
          </a:prstGeom>
          <a:ln w="28575">
            <a:solidFill>
              <a:srgbClr val="C4512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60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background">
            <a:extLst>
              <a:ext uri="{FF2B5EF4-FFF2-40B4-BE49-F238E27FC236}">
                <a16:creationId xmlns:a16="http://schemas.microsoft.com/office/drawing/2014/main" id="{AB87DA06-36D8-4DD8-9CD0-3A8F05AC35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8FAA0157-BA4C-4906-90BF-661CB57481C7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323850" cy="381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37D9DA2C-FEE2-4A1C-8F34-D958E042F8F2}"/>
              </a:ext>
            </a:extLst>
          </p:cNvPr>
          <p:cNvSpPr>
            <a:spLocks noGrp="1"/>
          </p:cNvSpPr>
          <p:nvPr/>
        </p:nvSpPr>
        <p:spPr>
          <a:xfrm>
            <a:off x="1123950" y="3810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RESULTATS GLOBAUX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C30F90-D030-4E74-82A2-D3B8044278E5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44767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PySR domine les baselines sur le run genere.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1A78FA-C038-4E31-893B-5434D423736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40957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Les barres bleues comparent la RMSE: plus bas est meilleur. Le panneau vert compare la lisibilite: plus haut est meilleur.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667C173-FDE1-4AE0-957E-CC21E4A969BD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19621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929677-7C46-4AE7-88EA-93A656C890BB}"/>
              </a:ext>
            </a:extLst>
          </p:cNvPr>
          <p:cNvSpPr>
            <a:spLocks noGrp="1"/>
          </p:cNvSpPr>
          <p:nvPr/>
        </p:nvSpPr>
        <p:spPr>
          <a:xfrm>
            <a:off x="685800" y="2552700"/>
            <a:ext cx="47625" cy="9906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00B676-1580-471D-B306-28F863DF2319}"/>
              </a:ext>
            </a:extLst>
          </p:cNvPr>
          <p:cNvSpPr>
            <a:spLocks noGrp="1"/>
          </p:cNvSpPr>
          <p:nvPr/>
        </p:nvSpPr>
        <p:spPr>
          <a:xfrm>
            <a:off x="895350" y="2724150"/>
            <a:ext cx="1638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0.131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7FE502-57C6-439E-8ECF-AC55803400FB}"/>
              </a:ext>
            </a:extLst>
          </p:cNvPr>
          <p:cNvSpPr>
            <a:spLocks noGrp="1"/>
          </p:cNvSpPr>
          <p:nvPr/>
        </p:nvSpPr>
        <p:spPr>
          <a:xfrm>
            <a:off x="895350" y="310515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RMSE gravite avec equation symbolique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29C348-2262-4BDB-829E-7AE777926230}"/>
              </a:ext>
            </a:extLst>
          </p:cNvPr>
          <p:cNvSpPr>
            <a:spLocks noGrp="1"/>
          </p:cNvSpPr>
          <p:nvPr/>
        </p:nvSpPr>
        <p:spPr>
          <a:xfrm>
            <a:off x="2857500" y="2552700"/>
            <a:ext cx="21526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2A65CD-C928-4B6E-9C9B-D3FEF294668D}"/>
              </a:ext>
            </a:extLst>
          </p:cNvPr>
          <p:cNvSpPr>
            <a:spLocks noGrp="1"/>
          </p:cNvSpPr>
          <p:nvPr/>
        </p:nvSpPr>
        <p:spPr>
          <a:xfrm>
            <a:off x="2857500" y="2552700"/>
            <a:ext cx="47625" cy="9906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0FDB25-45B9-4745-8838-5BF55910B74A}"/>
              </a:ext>
            </a:extLst>
          </p:cNvPr>
          <p:cNvSpPr>
            <a:spLocks noGrp="1"/>
          </p:cNvSpPr>
          <p:nvPr/>
        </p:nvSpPr>
        <p:spPr>
          <a:xfrm>
            <a:off x="3067050" y="2724150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2.950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F303B0-27F4-4DA3-8CC6-2238A0795F1D}"/>
              </a:ext>
            </a:extLst>
          </p:cNvPr>
          <p:cNvSpPr>
            <a:spLocks noGrp="1"/>
          </p:cNvSpPr>
          <p:nvPr/>
        </p:nvSpPr>
        <p:spPr>
          <a:xfrm>
            <a:off x="3067050" y="3105150"/>
            <a:ext cx="1828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RMSE gaz parfait, formule exacte T*n/V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7DE26F-CE6C-4447-A80E-4C209070FFB3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19621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3B7E27-D7BE-427D-975E-192F66C17113}"/>
              </a:ext>
            </a:extLst>
          </p:cNvPr>
          <p:cNvSpPr>
            <a:spLocks noGrp="1"/>
          </p:cNvSpPr>
          <p:nvPr/>
        </p:nvSpPr>
        <p:spPr>
          <a:xfrm>
            <a:off x="685800" y="3752850"/>
            <a:ext cx="47625" cy="9906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C4657-C95A-4FBC-ACFD-BA6D2371B3C2}"/>
              </a:ext>
            </a:extLst>
          </p:cNvPr>
          <p:cNvSpPr>
            <a:spLocks noGrp="1"/>
          </p:cNvSpPr>
          <p:nvPr/>
        </p:nvSpPr>
        <p:spPr>
          <a:xfrm>
            <a:off x="895350" y="3924300"/>
            <a:ext cx="16383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0.082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1B2B97-8D36-455D-A5FF-980F4491B721}"/>
              </a:ext>
            </a:extLst>
          </p:cNvPr>
          <p:cNvSpPr>
            <a:spLocks noGrp="1"/>
          </p:cNvSpPr>
          <p:nvPr/>
        </p:nvSpPr>
        <p:spPr>
          <a:xfrm>
            <a:off x="895350" y="4305300"/>
            <a:ext cx="1638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RMSE pendule, sine nonlinearity trouvee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616245-034B-4D8D-8D01-112E614A3642}"/>
              </a:ext>
            </a:extLst>
          </p:cNvPr>
          <p:cNvSpPr>
            <a:spLocks noGrp="1"/>
          </p:cNvSpPr>
          <p:nvPr/>
        </p:nvSpPr>
        <p:spPr>
          <a:xfrm>
            <a:off x="2857500" y="3752850"/>
            <a:ext cx="215265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AABF97-2ED0-4557-A4A0-21451EF0DDF7}"/>
              </a:ext>
            </a:extLst>
          </p:cNvPr>
          <p:cNvSpPr>
            <a:spLocks noGrp="1"/>
          </p:cNvSpPr>
          <p:nvPr/>
        </p:nvSpPr>
        <p:spPr>
          <a:xfrm>
            <a:off x="2857500" y="3752850"/>
            <a:ext cx="47625" cy="9906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A0E88BA-404C-4ABC-8281-2EF47BB1E894}"/>
              </a:ext>
            </a:extLst>
          </p:cNvPr>
          <p:cNvSpPr>
            <a:spLocks noGrp="1"/>
          </p:cNvSpPr>
          <p:nvPr/>
        </p:nvSpPr>
        <p:spPr>
          <a:xfrm>
            <a:off x="3067050" y="3924300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lisible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AAC49C1-B9CE-46A4-A56B-DD4B9388F86B}"/>
              </a:ext>
            </a:extLst>
          </p:cNvPr>
          <p:cNvSpPr>
            <a:spLocks noGrp="1"/>
          </p:cNvSpPr>
          <p:nvPr/>
        </p:nvSpPr>
        <p:spPr>
          <a:xfrm>
            <a:off x="3067050" y="4305300"/>
            <a:ext cx="1828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contrairement a kernel ridge, PySR donne une formule exploitable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10250" y="1172971"/>
            <a:ext cx="5429250" cy="415010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7FA98D8-8B91-406B-8002-77F3E2935C9D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F9BF249-3905-436B-AD11-E0DA1BE8885F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Source: outputs_run/figures/model_comparison.png, outputs_run/results/metrics.csv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C4FEFAF-4C77-42D0-BE9C-429F0D2EAEC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20689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36C4C282-D220-4350-B59F-9681A8A08F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21DD7A74-B44D-45A7-A013-15FEFF50ABFA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323850" cy="381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7C7A7D2F-455B-408C-AB79-0930F1F24961}"/>
              </a:ext>
            </a:extLst>
          </p:cNvPr>
          <p:cNvSpPr>
            <a:spLocks noGrp="1"/>
          </p:cNvSpPr>
          <p:nvPr/>
        </p:nvSpPr>
        <p:spPr>
          <a:xfrm>
            <a:off x="1123950" y="3810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C45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512F"/>
                </a:solidFill>
                <a:latin typeface="Aptos"/>
                <a:ea typeface="Aptos"/>
                <a:cs typeface="Aptos"/>
              </a:rPr>
              <a:t>CAS 1 - GRAVITE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516A7A-AD11-4614-A1C4-4DD6CB2A5866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6381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La loi en 1/r^2 emerge avec un tres faible residu.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2372" y="1752600"/>
            <a:ext cx="6099106" cy="409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2E836D-F6A7-42F2-8DEF-40CD4BD3C609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371850" cy="3200400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FC1B75-1CFA-4B8D-AD6C-21EA48CC062A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451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4512F"/>
                </a:solidFill>
                <a:latin typeface="Aptos"/>
                <a:ea typeface="Aptos"/>
                <a:cs typeface="Aptos"/>
              </a:rPr>
              <a:t>EQUATION RETENUE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319183-DC02-4971-8CB6-965648A882EA}"/>
              </a:ext>
            </a:extLst>
          </p:cNvPr>
          <p:cNvSpPr>
            <a:spLocks noGrp="1"/>
          </p:cNvSpPr>
          <p:nvPr/>
        </p:nvSpPr>
        <p:spPr>
          <a:xfrm>
            <a:off x="7962900" y="2305050"/>
            <a:ext cx="28765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m2*(m1 + m1 + m1)</a:t>
            </a:r>
          </a:p>
          <a:p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/(3.00679*r*r)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E8D1E5-0B76-47DE-BC69-2BDF3C18690E}"/>
              </a:ext>
            </a:extLst>
          </p:cNvPr>
          <p:cNvSpPr>
            <a:spLocks noGrp="1"/>
          </p:cNvSpPr>
          <p:nvPr/>
        </p:nvSpPr>
        <p:spPr>
          <a:xfrm>
            <a:off x="7962900" y="3162300"/>
            <a:ext cx="2876550" cy="9525"/>
          </a:xfrm>
          <a:prstGeom prst="rect">
            <a:avLst/>
          </a:prstGeom>
          <a:solidFill>
            <a:srgbClr val="45515A"/>
          </a:solidFill>
          <a:ln w="0">
            <a:solidFill>
              <a:srgbClr val="455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507810-F7DF-461E-9CF9-E136A8EE4CF7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2876550" cy="1409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Comme (m1+m1+m1)/3.00679 est quasiment m1, PySR retrouve la structure F = m1*m2/r^2.</a:t>
            </a:r>
          </a:p>
          <a:p>
            <a:endParaRPr sz="1125" b="0">
              <a:solidFill>
                <a:srgbClr val="E9ECE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RMSE = 0.131 | R2 = 0.99967 | complexite = 16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3612EE-FCEA-48CA-9863-0C7DD287A3E1}"/>
              </a:ext>
            </a:extLst>
          </p:cNvPr>
          <p:cNvSpPr>
            <a:spLocks noGrp="1"/>
          </p:cNvSpPr>
          <p:nvPr/>
        </p:nvSpPr>
        <p:spPr>
          <a:xfrm>
            <a:off x="7715250" y="5162550"/>
            <a:ext cx="33528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Lecture du graphe: l'etoile est le compromis choisi. Une equation un peu plus complexe existe, mais le gain d'erreur est marginal.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383183-61CF-48E3-8F7F-69E9BB69DF2E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A184BC-D42A-40E5-A440-258BF41AF82C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Source: outputs_run/figures/gravity_pareto.png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599D77-FF64-4BC9-9038-D6F8B64C5879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1877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4C3B8FD1-718B-4C8D-BD54-A64DCB4403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EC6DF9D-4267-43B2-90C0-E4144D345F15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323850" cy="381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0785C346-BD24-41DF-BE03-D7FF11D267EC}"/>
              </a:ext>
            </a:extLst>
          </p:cNvPr>
          <p:cNvSpPr>
            <a:spLocks noGrp="1"/>
          </p:cNvSpPr>
          <p:nvPr/>
        </p:nvSpPr>
        <p:spPr>
          <a:xfrm>
            <a:off x="1123950" y="3810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59A1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9A14F"/>
                </a:solidFill>
                <a:latin typeface="Aptos"/>
                <a:ea typeface="Aptos"/>
                <a:cs typeface="Aptos"/>
              </a:rPr>
              <a:t>CAS 2 - GAZ PARFAIT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A611B-C510-49DB-9565-0D1E5BE286E7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666750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La relation P = nT/V est retrouvee exactement.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2372" y="1752600"/>
            <a:ext cx="6099106" cy="40957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9CC3605-2D58-4D5E-8E86-A80F06E21CCF}"/>
              </a:ext>
            </a:extLst>
          </p:cNvPr>
          <p:cNvSpPr>
            <a:spLocks noGrp="1"/>
          </p:cNvSpPr>
          <p:nvPr/>
        </p:nvSpPr>
        <p:spPr>
          <a:xfrm>
            <a:off x="7715250" y="1752600"/>
            <a:ext cx="3371850" cy="2724150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0600C6-A4FD-4A0B-9787-78B21C0CDBEF}"/>
              </a:ext>
            </a:extLst>
          </p:cNvPr>
          <p:cNvSpPr>
            <a:spLocks noGrp="1"/>
          </p:cNvSpPr>
          <p:nvPr/>
        </p:nvSpPr>
        <p:spPr>
          <a:xfrm>
            <a:off x="7962900" y="1962150"/>
            <a:ext cx="2876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9A1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A14F"/>
                </a:solidFill>
                <a:latin typeface="Aptos"/>
                <a:ea typeface="Aptos"/>
                <a:cs typeface="Aptos"/>
              </a:rPr>
              <a:t>EQUATION RETENUE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74001E-2CF4-4DDD-8E0D-609BBDF5E7EE}"/>
              </a:ext>
            </a:extLst>
          </p:cNvPr>
          <p:cNvSpPr>
            <a:spLocks noGrp="1"/>
          </p:cNvSpPr>
          <p:nvPr/>
        </p:nvSpPr>
        <p:spPr>
          <a:xfrm>
            <a:off x="7962900" y="2305050"/>
            <a:ext cx="28765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T*n/V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9570B0-1BD9-411E-A07B-C68D2031864B}"/>
              </a:ext>
            </a:extLst>
          </p:cNvPr>
          <p:cNvSpPr>
            <a:spLocks noGrp="1"/>
          </p:cNvSpPr>
          <p:nvPr/>
        </p:nvSpPr>
        <p:spPr>
          <a:xfrm>
            <a:off x="7962900" y="3162300"/>
            <a:ext cx="2876550" cy="9525"/>
          </a:xfrm>
          <a:prstGeom prst="rect">
            <a:avLst/>
          </a:prstGeom>
          <a:solidFill>
            <a:srgbClr val="45515A"/>
          </a:solidFill>
          <a:ln w="0">
            <a:solidFill>
              <a:srgbClr val="455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C8C717-0DF6-41B3-9C78-3B091AF84FF5}"/>
              </a:ext>
            </a:extLst>
          </p:cNvPr>
          <p:cNvSpPr>
            <a:spLocks noGrp="1"/>
          </p:cNvSpPr>
          <p:nvPr/>
        </p:nvSpPr>
        <p:spPr>
          <a:xfrm>
            <a:off x="7962900" y="3371850"/>
            <a:ext cx="28765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La formule selectionnee a la meme structure que l'expression analytique normalisee.</a:t>
            </a:r>
          </a:p>
          <a:p>
            <a:endParaRPr sz="1125" b="0">
              <a:solidFill>
                <a:srgbClr val="E9ECE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RMSE = 2.950 | R2 = 0.99983 | complexite = 6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710557-F93B-414B-A8EA-63939239F932}"/>
              </a:ext>
            </a:extLst>
          </p:cNvPr>
          <p:cNvSpPr>
            <a:spLocks noGrp="1"/>
          </p:cNvSpPr>
          <p:nvPr/>
        </p:nvSpPr>
        <p:spPr>
          <a:xfrm>
            <a:off x="7715250" y="4762500"/>
            <a:ext cx="33528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Lecture du graphe: les formules trop simples restent tres hautes en RMSE. Des que le quotient T*n/V apparait, l'erreur chute fortement avec peu de complexite.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88D25F-0872-4021-A9F5-1DAE2CBF5031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F30F413-DEC7-4A80-94C8-6DB486BFCF65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Source: outputs_run/figures/ideal_gas_pareto.png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C32BC6-F0E3-4277-AFFD-0F05EEF6A9AE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7430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ackground">
            <a:extLst>
              <a:ext uri="{FF2B5EF4-FFF2-40B4-BE49-F238E27FC236}">
                <a16:creationId xmlns:a16="http://schemas.microsoft.com/office/drawing/2014/main" id="{60C49466-FAA4-455A-BE71-29717754D5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2EA"/>
          </a:solidFill>
          <a:ln w="0">
            <a:solidFill>
              <a:srgbClr val="F7F2E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D3DAA9FF-1BD7-45EB-9267-C2C4C83610C0}"/>
              </a:ext>
            </a:extLst>
          </p:cNvPr>
          <p:cNvSpPr>
            <a:spLocks noGrp="1"/>
          </p:cNvSpPr>
          <p:nvPr/>
        </p:nvSpPr>
        <p:spPr>
          <a:xfrm>
            <a:off x="685800" y="466725"/>
            <a:ext cx="323850" cy="381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9FCD9493-6177-439F-BDC0-3BA17AB41AD4}"/>
              </a:ext>
            </a:extLst>
          </p:cNvPr>
          <p:cNvSpPr>
            <a:spLocks noGrp="1"/>
          </p:cNvSpPr>
          <p:nvPr/>
        </p:nvSpPr>
        <p:spPr>
          <a:xfrm>
            <a:off x="1123950" y="3810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CAS 3 - PENDULE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EEE29-214F-45BE-A8C3-037EC39BF59F}"/>
              </a:ext>
            </a:extLst>
          </p:cNvPr>
          <p:cNvSpPr>
            <a:spLocks noGrp="1"/>
          </p:cNvSpPr>
          <p:nvPr/>
        </p:nvSpPr>
        <p:spPr>
          <a:xfrm>
            <a:off x="685800" y="742950"/>
            <a:ext cx="7239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625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Le </a:t>
            </a:r>
            <a:r>
              <a:rPr sz="2625" b="1" dirty="0" err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modele</a:t>
            </a:r>
            <a:r>
              <a:rPr sz="2625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25" b="1" dirty="0" err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decouvre</a:t>
            </a:r>
            <a:r>
              <a:rPr sz="2625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 la non-</a:t>
            </a:r>
            <a:r>
              <a:rPr sz="2625" b="1" dirty="0" err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linearite</a:t>
            </a:r>
            <a:r>
              <a:rPr sz="2625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 sin(theta) et </a:t>
            </a:r>
            <a:r>
              <a:rPr sz="2625" b="1" dirty="0" err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l'echelle</a:t>
            </a:r>
            <a:r>
              <a:rPr sz="2625" b="1" dirty="0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 g/L.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36026" y="1790700"/>
            <a:ext cx="5928898" cy="398145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1EA1C13-D1BA-4208-9EE3-3CCF4CFAF986}"/>
              </a:ext>
            </a:extLst>
          </p:cNvPr>
          <p:cNvSpPr>
            <a:spLocks noGrp="1"/>
          </p:cNvSpPr>
          <p:nvPr/>
        </p:nvSpPr>
        <p:spPr>
          <a:xfrm>
            <a:off x="7524750" y="1695450"/>
            <a:ext cx="3695700" cy="3028950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DA8E2DC-CB34-4A0E-AB3B-40EC6432D9A3}"/>
              </a:ext>
            </a:extLst>
          </p:cNvPr>
          <p:cNvSpPr>
            <a:spLocks noGrp="1"/>
          </p:cNvSpPr>
          <p:nvPr/>
        </p:nvSpPr>
        <p:spPr>
          <a:xfrm>
            <a:off x="7772400" y="1905000"/>
            <a:ext cx="3200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F6F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F6F8F"/>
                </a:solidFill>
                <a:latin typeface="Aptos"/>
                <a:ea typeface="Aptos"/>
                <a:cs typeface="Aptos"/>
              </a:rPr>
              <a:t>EQUATION RETENUE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7B9E3FC-0515-41F1-B7B6-9341F66E15AA}"/>
              </a:ext>
            </a:extLst>
          </p:cNvPr>
          <p:cNvSpPr>
            <a:spLocks noGrp="1"/>
          </p:cNvSpPr>
          <p:nvPr/>
        </p:nvSpPr>
        <p:spPr>
          <a:xfrm>
            <a:off x="7772400" y="2247900"/>
            <a:ext cx="320040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g*sin(theta/(-0.9984594))</a:t>
            </a:r>
          </a:p>
          <a:p>
            <a:pPr algn="l">
              <a:def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800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/L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D7372F-A81B-42D4-8529-0F08CE6CCA2E}"/>
              </a:ext>
            </a:extLst>
          </p:cNvPr>
          <p:cNvSpPr>
            <a:spLocks noGrp="1"/>
          </p:cNvSpPr>
          <p:nvPr/>
        </p:nvSpPr>
        <p:spPr>
          <a:xfrm>
            <a:off x="7772400" y="3105150"/>
            <a:ext cx="3200400" cy="9525"/>
          </a:xfrm>
          <a:prstGeom prst="rect">
            <a:avLst/>
          </a:prstGeom>
          <a:solidFill>
            <a:srgbClr val="45515A"/>
          </a:solidFill>
          <a:ln w="0">
            <a:solidFill>
              <a:srgbClr val="45515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551FD-48A9-4F58-A0ED-BEBF3272A388}"/>
              </a:ext>
            </a:extLst>
          </p:cNvPr>
          <p:cNvSpPr>
            <a:spLocks noGrp="1"/>
          </p:cNvSpPr>
          <p:nvPr/>
        </p:nvSpPr>
        <p:spPr>
          <a:xfrm>
            <a:off x="7772400" y="3314700"/>
            <a:ext cx="32004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Comme theta/(-0.9984594) est presque -theta, l'equation approxime -(g/L)*sin(theta).</a:t>
            </a:r>
          </a:p>
          <a:p>
            <a:endParaRPr sz="1125" b="0">
              <a:solidFill>
                <a:srgbClr val="E9ECEF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E9ECE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E9ECEF"/>
                </a:solidFill>
                <a:latin typeface="Aptos"/>
                <a:ea typeface="Aptos"/>
                <a:cs typeface="Aptos"/>
              </a:rPr>
              <a:t>RMSE = 0.082 | R2 = 0.99994 | complexite = 12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FD1590-28BE-4050-9EF5-53FC725E52C8}"/>
              </a:ext>
            </a:extLst>
          </p:cNvPr>
          <p:cNvSpPr>
            <a:spLocks noGrp="1"/>
          </p:cNvSpPr>
          <p:nvPr/>
        </p:nvSpPr>
        <p:spPr>
          <a:xfrm>
            <a:off x="7524750" y="4972050"/>
            <a:ext cx="3695700" cy="914400"/>
          </a:xfrm>
          <a:prstGeom prst="rect">
            <a:avLst/>
          </a:prstGeom>
          <a:solidFill>
            <a:srgbClr val="FDFBF7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107D06-25F0-4DE6-BC23-2B11D63D7E7D}"/>
              </a:ext>
            </a:extLst>
          </p:cNvPr>
          <p:cNvSpPr>
            <a:spLocks noGrp="1"/>
          </p:cNvSpPr>
          <p:nvPr/>
        </p:nvSpPr>
        <p:spPr>
          <a:xfrm>
            <a:off x="7524750" y="4972050"/>
            <a:ext cx="57150" cy="9144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DD43F6-F18D-4988-8675-664157513D87}"/>
              </a:ext>
            </a:extLst>
          </p:cNvPr>
          <p:cNvSpPr>
            <a:spLocks noGrp="1"/>
          </p:cNvSpPr>
          <p:nvPr/>
        </p:nvSpPr>
        <p:spPr>
          <a:xfrm>
            <a:off x="7753350" y="51244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Lecture du graphe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1BA13-4503-4B6E-A6ED-2578512E4877}"/>
              </a:ext>
            </a:extLst>
          </p:cNvPr>
          <p:cNvSpPr>
            <a:spLocks noGrp="1"/>
          </p:cNvSpPr>
          <p:nvPr/>
        </p:nvSpPr>
        <p:spPr>
          <a:xfrm>
            <a:off x="7753350" y="5391150"/>
            <a:ext cx="3181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Les approximations lineaires reduisent deja l'erreur, mais la vraie rupture arrive quand PySR introduit sin(theta).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E419E33-DEFA-46DB-8C23-7671AF0D6749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63E248-5749-4F29-844B-ED98F4ACC291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Source: outputs_run/figures/pendulum_pareto.png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8E0E10-EB5D-439B-892E-10FB5664AB07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578097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ackground">
            <a:extLst>
              <a:ext uri="{FF2B5EF4-FFF2-40B4-BE49-F238E27FC236}">
                <a16:creationId xmlns:a16="http://schemas.microsoft.com/office/drawing/2014/main" id="{3F3F8637-A68D-419C-89E8-44ABD82EF0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2026"/>
          </a:solidFill>
          <a:ln w="0">
            <a:solidFill>
              <a:srgbClr val="18202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kicker-marker">
            <a:extLst>
              <a:ext uri="{FF2B5EF4-FFF2-40B4-BE49-F238E27FC236}">
                <a16:creationId xmlns:a16="http://schemas.microsoft.com/office/drawing/2014/main" id="{E973B1CA-1A84-41C7-A5B5-4C0377856BB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323850" cy="381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kicker-label">
            <a:extLst>
              <a:ext uri="{FF2B5EF4-FFF2-40B4-BE49-F238E27FC236}">
                <a16:creationId xmlns:a16="http://schemas.microsoft.com/office/drawing/2014/main" id="{8C45BE15-F79B-4153-BB1E-4D0A861AB2E1}"/>
              </a:ext>
            </a:extLst>
          </p:cNvPr>
          <p:cNvSpPr>
            <a:spLocks noGrp="1"/>
          </p:cNvSpPr>
          <p:nvPr/>
        </p:nvSpPr>
        <p:spPr>
          <a:xfrm>
            <a:off x="1123950" y="457200"/>
            <a:ext cx="4953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9525" rIns="0" bIns="0" anchor="t"/>
          <a:lstStyle/>
          <a:p>
            <a:pPr algn="l">
              <a:defRPr sz="1050" b="1">
                <a:solidFill>
                  <a:srgbClr val="C4512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4512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0460C1-0AFE-47B1-8465-40BB5F1A8CC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9334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</a:t>
            </a:r>
            <a:r>
              <a:rPr sz="2925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projet</a:t>
            </a: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925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atteint</a:t>
            </a: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son </a:t>
            </a:r>
            <a:r>
              <a:rPr sz="2925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objectif</a:t>
            </a: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: precision + </a:t>
            </a:r>
            <a:r>
              <a:rPr sz="2925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parcimonie</a:t>
            </a: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 + </a:t>
            </a:r>
            <a:r>
              <a:rPr sz="2925" b="1" dirty="0" err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interpretabilite</a:t>
            </a:r>
            <a:r>
              <a:rPr sz="2925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89635-4CF7-4926-B45F-C4DB99A39CDE}"/>
              </a:ext>
            </a:extLst>
          </p:cNvPr>
          <p:cNvSpPr>
            <a:spLocks noGrp="1"/>
          </p:cNvSpPr>
          <p:nvPr/>
        </p:nvSpPr>
        <p:spPr>
          <a:xfrm>
            <a:off x="685800" y="1847850"/>
            <a:ext cx="8382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DE4E8"/>
                </a:solidFill>
                <a:latin typeface="Aptos"/>
                <a:ea typeface="Aptos"/>
                <a:cs typeface="Aptos"/>
              </a:defRPr>
            </a:pP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La regression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symbolique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produit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des equations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compactes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que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l'on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peut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relier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directement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aux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lois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 physiques </a:t>
            </a:r>
            <a:r>
              <a:rPr sz="1500" b="0" dirty="0" err="1">
                <a:solidFill>
                  <a:srgbClr val="DDE4E8"/>
                </a:solidFill>
                <a:latin typeface="Aptos"/>
                <a:ea typeface="Aptos"/>
                <a:cs typeface="Aptos"/>
              </a:rPr>
              <a:t>connues</a:t>
            </a:r>
            <a:r>
              <a:rPr sz="1500" b="0" dirty="0">
                <a:solidFill>
                  <a:srgbClr val="DDE4E8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B3ED09-3320-4F79-9984-D80280257B21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161239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7E61D6-43C6-40A7-98E9-C2AEDD7DB315}"/>
              </a:ext>
            </a:extLst>
          </p:cNvPr>
          <p:cNvSpPr>
            <a:spLocks noGrp="1"/>
          </p:cNvSpPr>
          <p:nvPr/>
        </p:nvSpPr>
        <p:spPr>
          <a:xfrm>
            <a:off x="838200" y="2457450"/>
            <a:ext cx="45719" cy="9906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DFF99A-D81E-45BF-9D22-00A40EBF3E4E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1363204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3 lois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D1E164-00D2-49C8-92F6-38EEDD944A7A}"/>
              </a:ext>
            </a:extLst>
          </p:cNvPr>
          <p:cNvSpPr>
            <a:spLocks noGrp="1"/>
          </p:cNvSpPr>
          <p:nvPr/>
        </p:nvSpPr>
        <p:spPr>
          <a:xfrm>
            <a:off x="1047750" y="3009900"/>
            <a:ext cx="1363204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structures physiques retrouvees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50AACC-A5BD-4ECC-BEF4-F1B68428778E}"/>
              </a:ext>
            </a:extLst>
          </p:cNvPr>
          <p:cNvSpPr>
            <a:spLocks noGrp="1"/>
          </p:cNvSpPr>
          <p:nvPr/>
        </p:nvSpPr>
        <p:spPr>
          <a:xfrm>
            <a:off x="2907792" y="2458212"/>
            <a:ext cx="161239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2A6980-B066-4180-9B09-D1C521298DB0}"/>
              </a:ext>
            </a:extLst>
          </p:cNvPr>
          <p:cNvSpPr>
            <a:spLocks noGrp="1"/>
          </p:cNvSpPr>
          <p:nvPr/>
        </p:nvSpPr>
        <p:spPr>
          <a:xfrm>
            <a:off x="2907792" y="2458212"/>
            <a:ext cx="45719" cy="9906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12D7E-EC2D-440A-B302-51F4125047F3}"/>
              </a:ext>
            </a:extLst>
          </p:cNvPr>
          <p:cNvSpPr>
            <a:spLocks noGrp="1"/>
          </p:cNvSpPr>
          <p:nvPr/>
        </p:nvSpPr>
        <p:spPr>
          <a:xfrm>
            <a:off x="3117342" y="2629662"/>
            <a:ext cx="1363204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Pareto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04872A-67AB-4B8E-8DF0-0FCD5F084EF9}"/>
              </a:ext>
            </a:extLst>
          </p:cNvPr>
          <p:cNvSpPr>
            <a:spLocks noGrp="1"/>
          </p:cNvSpPr>
          <p:nvPr/>
        </p:nvSpPr>
        <p:spPr>
          <a:xfrm>
            <a:off x="3117342" y="3010662"/>
            <a:ext cx="1363204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choix entre erreur et complexite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FD3636-F93C-4D57-AF42-6C21082B0085}"/>
              </a:ext>
            </a:extLst>
          </p:cNvPr>
          <p:cNvSpPr>
            <a:spLocks noGrp="1"/>
          </p:cNvSpPr>
          <p:nvPr/>
        </p:nvSpPr>
        <p:spPr>
          <a:xfrm>
            <a:off x="4977384" y="2457450"/>
            <a:ext cx="161239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EDF714-5526-42C7-8AA8-BA2EF15C930F}"/>
              </a:ext>
            </a:extLst>
          </p:cNvPr>
          <p:cNvSpPr>
            <a:spLocks noGrp="1"/>
          </p:cNvSpPr>
          <p:nvPr/>
        </p:nvSpPr>
        <p:spPr>
          <a:xfrm>
            <a:off x="4977384" y="2457450"/>
            <a:ext cx="45719" cy="9906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CC16E4C-4DCF-499E-B980-E984F3A7E7B8}"/>
              </a:ext>
            </a:extLst>
          </p:cNvPr>
          <p:cNvSpPr>
            <a:spLocks noGrp="1"/>
          </p:cNvSpPr>
          <p:nvPr/>
        </p:nvSpPr>
        <p:spPr>
          <a:xfrm>
            <a:off x="5186934" y="2628900"/>
            <a:ext cx="1363204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rapport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2D0FA-9A6E-4EE1-BEF3-DED4C834020B}"/>
              </a:ext>
            </a:extLst>
          </p:cNvPr>
          <p:cNvSpPr>
            <a:spLocks noGrp="1"/>
          </p:cNvSpPr>
          <p:nvPr/>
        </p:nvSpPr>
        <p:spPr>
          <a:xfrm>
            <a:off x="5186934" y="3009900"/>
            <a:ext cx="1363204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sortie reproductible dans outputs_run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1BCCCD-E450-42DD-B39D-9C0579CD4F2E}"/>
              </a:ext>
            </a:extLst>
          </p:cNvPr>
          <p:cNvSpPr>
            <a:spLocks noGrp="1"/>
          </p:cNvSpPr>
          <p:nvPr/>
        </p:nvSpPr>
        <p:spPr>
          <a:xfrm>
            <a:off x="7047752" y="2457450"/>
            <a:ext cx="1612392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0E87D1-D3F8-4475-8FE9-65ECAE4ED375}"/>
              </a:ext>
            </a:extLst>
          </p:cNvPr>
          <p:cNvSpPr>
            <a:spLocks noGrp="1"/>
          </p:cNvSpPr>
          <p:nvPr/>
        </p:nvSpPr>
        <p:spPr>
          <a:xfrm>
            <a:off x="7047752" y="2457450"/>
            <a:ext cx="45719" cy="9906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10A6159-CC73-4C9D-A6E6-6CFAC024EEB1}"/>
              </a:ext>
            </a:extLst>
          </p:cNvPr>
          <p:cNvSpPr>
            <a:spLocks noGrp="1"/>
          </p:cNvSpPr>
          <p:nvPr/>
        </p:nvSpPr>
        <p:spPr>
          <a:xfrm>
            <a:off x="7257302" y="2628900"/>
            <a:ext cx="1363204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182026"/>
                </a:solidFill>
                <a:latin typeface="Aptos Display"/>
                <a:ea typeface="Aptos Display"/>
                <a:cs typeface="Aptos Display"/>
              </a:rPr>
              <a:t>suite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17187CD-E777-4CC0-A96A-A41AB48F3A33}"/>
              </a:ext>
            </a:extLst>
          </p:cNvPr>
          <p:cNvSpPr>
            <a:spLocks noGrp="1"/>
          </p:cNvSpPr>
          <p:nvPr/>
        </p:nvSpPr>
        <p:spPr>
          <a:xfrm>
            <a:off x="7257302" y="3009900"/>
            <a:ext cx="1363204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augmenter iterations et populations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05EEE5-0E48-454E-8C74-FE6954387B77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783945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D2B6C3F-03F5-4747-887D-E13727304D26}"/>
              </a:ext>
            </a:extLst>
          </p:cNvPr>
          <p:cNvSpPr>
            <a:spLocks noGrp="1"/>
          </p:cNvSpPr>
          <p:nvPr/>
        </p:nvSpPr>
        <p:spPr>
          <a:xfrm>
            <a:off x="838200" y="3733800"/>
            <a:ext cx="57150" cy="685800"/>
          </a:xfrm>
          <a:prstGeom prst="rect">
            <a:avLst/>
          </a:prstGeom>
          <a:solidFill>
            <a:srgbClr val="59A14F"/>
          </a:solidFill>
          <a:ln w="0">
            <a:solidFill>
              <a:srgbClr val="59A14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11C3081-ADC8-4ABB-873C-D2EFD9D8D3D3}"/>
              </a:ext>
            </a:extLst>
          </p:cNvPr>
          <p:cNvSpPr>
            <a:spLocks noGrp="1"/>
          </p:cNvSpPr>
          <p:nvPr/>
        </p:nvSpPr>
        <p:spPr>
          <a:xfrm>
            <a:off x="1104900" y="3876675"/>
            <a:ext cx="150799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Ce qui est valide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D33A71-9B3A-40CE-AD3C-FC46C30918D6}"/>
              </a:ext>
            </a:extLst>
          </p:cNvPr>
          <p:cNvSpPr>
            <a:spLocks noGrp="1"/>
          </p:cNvSpPr>
          <p:nvPr/>
        </p:nvSpPr>
        <p:spPr>
          <a:xfrm>
            <a:off x="2612898" y="387667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PySR bat les baselines sur RMSE et fournit une equation lisible pour chaque dataset.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4C7CF9B-A6BB-4BEB-B227-B5203C31EFA0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783945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2EC3C15-D5B2-44E4-B58E-6904E6A8E0C7}"/>
              </a:ext>
            </a:extLst>
          </p:cNvPr>
          <p:cNvSpPr>
            <a:spLocks noGrp="1"/>
          </p:cNvSpPr>
          <p:nvPr/>
        </p:nvSpPr>
        <p:spPr>
          <a:xfrm>
            <a:off x="838200" y="4591050"/>
            <a:ext cx="57150" cy="685800"/>
          </a:xfrm>
          <a:prstGeom prst="rect">
            <a:avLst/>
          </a:prstGeom>
          <a:solidFill>
            <a:srgbClr val="C4512F"/>
          </a:solidFill>
          <a:ln w="0">
            <a:solidFill>
              <a:srgbClr val="C4512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88FE043-F573-4C03-96E4-CB1BC44D9095}"/>
              </a:ext>
            </a:extLst>
          </p:cNvPr>
          <p:cNvSpPr>
            <a:spLocks noGrp="1"/>
          </p:cNvSpPr>
          <p:nvPr/>
        </p:nvSpPr>
        <p:spPr>
          <a:xfrm>
            <a:off x="1104900" y="4733925"/>
            <a:ext cx="1507998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Limite principale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9FD5536-4E28-45A5-AE70-2D3A47FE41EA}"/>
              </a:ext>
            </a:extLst>
          </p:cNvPr>
          <p:cNvSpPr>
            <a:spLocks noGrp="1"/>
          </p:cNvSpPr>
          <p:nvPr/>
        </p:nvSpPr>
        <p:spPr>
          <a:xfrm>
            <a:off x="2612898" y="473392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La recherche est stochastique: un run rapide suffit pour demontrer la chaine, mais un run long stabilise les resultats.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1F92C2F-1C9E-431B-AE1F-6ED8513EE010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7839456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2E2A34-E75A-4ABA-B648-A5C28F9C7732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57150" cy="685800"/>
          </a:xfrm>
          <a:prstGeom prst="rect">
            <a:avLst/>
          </a:prstGeom>
          <a:solidFill>
            <a:srgbClr val="2F6F8F"/>
          </a:solidFill>
          <a:ln w="0">
            <a:solidFill>
              <a:srgbClr val="2F6F8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197C63D-3B71-48FC-86D1-E52F986F14E6}"/>
              </a:ext>
            </a:extLst>
          </p:cNvPr>
          <p:cNvSpPr>
            <a:spLocks noGrp="1"/>
          </p:cNvSpPr>
          <p:nvPr/>
        </p:nvSpPr>
        <p:spPr>
          <a:xfrm>
            <a:off x="1104900" y="5591175"/>
            <a:ext cx="1418844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0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026"/>
                </a:solidFill>
                <a:latin typeface="Aptos"/>
                <a:ea typeface="Aptos"/>
                <a:cs typeface="Aptos"/>
              </a:rPr>
              <a:t>Prochaine etape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5CD491-AE1B-4BF8-9C16-E27288A793B7}"/>
              </a:ext>
            </a:extLst>
          </p:cNvPr>
          <p:cNvSpPr>
            <a:spLocks noGrp="1"/>
          </p:cNvSpPr>
          <p:nvPr/>
        </p:nvSpPr>
        <p:spPr>
          <a:xfrm>
            <a:off x="2612898" y="5591175"/>
            <a:ext cx="590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Lancer la configuration serieuse du README et comparer la stabilite des equations sur plusieurs seeds.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77FA40-9E61-4270-957F-6CFBAE380E2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9810750" cy="9525"/>
          </a:xfrm>
          <a:prstGeom prst="rect">
            <a:avLst/>
          </a:prstGeom>
          <a:solidFill>
            <a:srgbClr val="D8CFC3"/>
          </a:solidFill>
          <a:ln w="0">
            <a:solidFill>
              <a:srgbClr val="D8CFC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95FB1D5-B67F-44F1-B280-563B15C3B3B0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819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75F56"/>
                </a:solidFill>
                <a:latin typeface="Aptos"/>
                <a:ea typeface="Aptos"/>
                <a:cs typeface="Aptos"/>
              </a:rPr>
              <a:t>Sources: README.md, outputs_run/reports/report.md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832B4E8-E1DF-4BFE-B373-8E567D702EAB}"/>
              </a:ext>
            </a:extLst>
          </p:cNvPr>
          <p:cNvSpPr>
            <a:spLocks noGrp="1"/>
          </p:cNvSpPr>
          <p:nvPr/>
        </p:nvSpPr>
        <p:spPr>
          <a:xfrm>
            <a:off x="10934700" y="6419850"/>
            <a:ext cx="571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675F5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75F5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4389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947</Words>
  <Application>Microsoft Office PowerPoint</Application>
  <DocSecurity>0</DocSecurity>
  <PresentationFormat>Widescreen</PresentationFormat>
  <Paragraphs>117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Aptos Mono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Mehdi Robardet</cp:lastModifiedBy>
  <cp:revision>1</cp:revision>
  <dcterms:created xsi:type="dcterms:W3CDTF">2026-06-14T19:33:23Z</dcterms:created>
  <dcterms:modified xsi:type="dcterms:W3CDTF">2026-06-14T19:54:45Z</dcterms:modified>
</cp:coreProperties>
</file>